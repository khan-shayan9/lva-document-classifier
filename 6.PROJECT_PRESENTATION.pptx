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7986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han-shayan9/LVA-DOCUMENT-CLASSIFIER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va-document-classifier.onrender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137160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E39774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15400" y="196596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E39774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281160" y="256032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E39774">
              <a:alpha val="54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E397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SPS SUMMER INTERNSHIP  ·  2026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33400" y="237744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AI-Based Document</a:t>
            </a:r>
            <a:endParaRPr lang="en-US" sz="3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Classification System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87952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8E6D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Automated records-retention classification for government documents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AF9F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Prepared by  M Shayan Khan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353312" y="402336"/>
            <a:ext cx="102897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373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Document Classification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373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 / 15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record has a legal retention rule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93976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How long it must be kept, and how it must be destroyed — set by the Library of Virginia schedules.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632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Classification is done by hand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65576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Slow, inconsistent, and hard to scale across thousands of files a day.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4348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Keyword search isn’t enough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837176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“resolved” vs “unresolved” reads almost the same — but it flips the retention rule.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0" y="1783080"/>
            <a:ext cx="2286000" cy="3017520"/>
          </a:xfrm>
          <a:prstGeom prst="roundRect">
            <a:avLst>
              <a:gd name="adj" fmla="val 3200"/>
            </a:avLst>
          </a:prstGeom>
          <a:solidFill>
            <a:srgbClr val="FAF9F5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0" y="1783080"/>
            <a:ext cx="2286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6600" dirty="0"/>
          </a:p>
        </p:txBody>
      </p:sp>
      <p:sp>
        <p:nvSpPr>
          <p:cNvPr id="15" name="Shape 13"/>
          <p:cNvSpPr/>
          <p:nvPr/>
        </p:nvSpPr>
        <p:spPr>
          <a:xfrm>
            <a:off x="10241280" y="1965960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E8E6DC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241280" y="196596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4A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Series?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241280" y="2880360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E8E6DC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241280" y="288036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4A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Retention?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241280" y="3794760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E8E6DC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241280" y="379476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4A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Disposition?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353312" y="402336"/>
            <a:ext cx="102897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Goal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373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Document Classification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373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03 / 15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650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Upload a document and get back its correct record series, retention period and disposition method — with the reasoning behind the decision.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E8E6DC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48640" y="33832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INPUT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033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PDF  ·  DOCX  ·  XLSX</a:t>
            </a:r>
            <a:endParaRPr lang="en-US" sz="15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500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Scanned images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 rot="5400000">
            <a:off x="4069080" y="4069080"/>
            <a:ext cx="201168" cy="256032"/>
          </a:xfrm>
          <a:prstGeom prst="triangle">
            <a:avLst/>
          </a:prstGeom>
          <a:solidFill>
            <a:srgbClr val="5C574F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3017520"/>
            <a:ext cx="6949440" cy="2377440"/>
          </a:xfrm>
          <a:prstGeom prst="roundRect">
            <a:avLst>
              <a:gd name="adj" fmla="val 3077"/>
            </a:avLst>
          </a:prstGeom>
          <a:solidFill>
            <a:srgbClr val="FAF9F5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937760" y="321868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4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GS-17  ·  Series 100812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64845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Abandoned / Impounded Vehicles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40416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Retention  3 years   ·   Disposition  Non-confidential Destruction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457200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“The document is a vehicle tow and impound slip, matching Series 100812.”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Example output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353312" y="402336"/>
            <a:ext cx="102897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Hybrid Retrieval Pipeline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373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Document Classification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373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04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965960" cy="2514600"/>
          </a:xfrm>
          <a:prstGeom prst="roundRect">
            <a:avLst>
              <a:gd name="adj" fmla="val 3721"/>
            </a:avLst>
          </a:prstGeom>
          <a:solidFill>
            <a:srgbClr val="E8E6DC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12164" y="2203704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12164" y="2203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0720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Semantic</a:t>
            </a:r>
            <a:endParaRPr lang="en-US" sz="14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520440"/>
            <a:ext cx="1746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Find the series closest in meaning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 rot="5400000">
            <a:off x="2542032" y="3095244"/>
            <a:ext cx="201168" cy="256032"/>
          </a:xfrm>
          <a:prstGeom prst="triangle">
            <a:avLst/>
          </a:prstGeom>
          <a:solidFill>
            <a:srgbClr val="5C574F"/>
          </a:solidFill>
          <a:ln/>
        </p:spPr>
      </p:sp>
      <p:sp>
        <p:nvSpPr>
          <p:cNvPr id="13" name="Shape 11"/>
          <p:cNvSpPr/>
          <p:nvPr/>
        </p:nvSpPr>
        <p:spPr>
          <a:xfrm>
            <a:off x="2770632" y="1965960"/>
            <a:ext cx="1965960" cy="2514600"/>
          </a:xfrm>
          <a:prstGeom prst="roundRect">
            <a:avLst>
              <a:gd name="adj" fmla="val 3721"/>
            </a:avLst>
          </a:prstGeom>
          <a:solidFill>
            <a:srgbClr val="F0EEE4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34156" y="2203704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34156" y="2203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862072" y="280720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Rerank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2880360" y="3520440"/>
            <a:ext cx="1746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Separate near-identical series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 rot="5400000">
            <a:off x="4764024" y="3095244"/>
            <a:ext cx="201168" cy="256032"/>
          </a:xfrm>
          <a:prstGeom prst="triangle">
            <a:avLst/>
          </a:prstGeom>
          <a:solidFill>
            <a:srgbClr val="5C574F"/>
          </a:solidFill>
          <a:ln/>
        </p:spPr>
      </p:sp>
      <p:sp>
        <p:nvSpPr>
          <p:cNvPr id="19" name="Shape 17"/>
          <p:cNvSpPr/>
          <p:nvPr/>
        </p:nvSpPr>
        <p:spPr>
          <a:xfrm>
            <a:off x="4992624" y="1965960"/>
            <a:ext cx="1965960" cy="2514600"/>
          </a:xfrm>
          <a:prstGeom prst="roundRect">
            <a:avLst>
              <a:gd name="adj" fmla="val 3721"/>
            </a:avLst>
          </a:prstGeom>
          <a:solidFill>
            <a:srgbClr val="E8E6DC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56148" y="2203704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756148" y="2203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084064" y="280720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Scope Gate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5102352" y="3520440"/>
            <a:ext cx="1746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Reject out-of-domain documents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 rot="5400000">
            <a:off x="6986016" y="3095244"/>
            <a:ext cx="201168" cy="256032"/>
          </a:xfrm>
          <a:prstGeom prst="triangle">
            <a:avLst/>
          </a:prstGeom>
          <a:solidFill>
            <a:srgbClr val="5C574F"/>
          </a:solidFill>
          <a:ln/>
        </p:spPr>
      </p:sp>
      <p:sp>
        <p:nvSpPr>
          <p:cNvPr id="25" name="Shape 23"/>
          <p:cNvSpPr/>
          <p:nvPr/>
        </p:nvSpPr>
        <p:spPr>
          <a:xfrm>
            <a:off x="7214616" y="1965960"/>
            <a:ext cx="1965960" cy="2514600"/>
          </a:xfrm>
          <a:prstGeom prst="roundRect">
            <a:avLst>
              <a:gd name="adj" fmla="val 3721"/>
            </a:avLst>
          </a:prstGeom>
          <a:solidFill>
            <a:srgbClr val="F0EEE4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978140" y="2203704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78140" y="2203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306056" y="280720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RAG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7324344" y="3520440"/>
            <a:ext cx="1746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LLM picks the best series and explains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 rot="5400000">
            <a:off x="9208008" y="3095244"/>
            <a:ext cx="201168" cy="256032"/>
          </a:xfrm>
          <a:prstGeom prst="triangle">
            <a:avLst/>
          </a:prstGeom>
          <a:solidFill>
            <a:srgbClr val="5C574F"/>
          </a:solidFill>
          <a:ln/>
        </p:spPr>
      </p:sp>
      <p:sp>
        <p:nvSpPr>
          <p:cNvPr id="31" name="Shape 29"/>
          <p:cNvSpPr/>
          <p:nvPr/>
        </p:nvSpPr>
        <p:spPr>
          <a:xfrm>
            <a:off x="9436608" y="1965960"/>
            <a:ext cx="1965960" cy="2514600"/>
          </a:xfrm>
          <a:prstGeom prst="roundRect">
            <a:avLst>
              <a:gd name="adj" fmla="val 3721"/>
            </a:avLst>
          </a:prstGeom>
          <a:solidFill>
            <a:srgbClr val="E8E6DC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200132" y="2203704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200132" y="2203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9528048" y="280720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Confidence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9546336" y="3520440"/>
            <a:ext cx="1746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Blend similarity with model certainty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4A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Retrieval grounds the model — statutory metadata is never invented by the AI.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353312" y="402336"/>
            <a:ext cx="102897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373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Document Classification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373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05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6858000" cy="566928"/>
          </a:xfrm>
          <a:prstGeom prst="roundRect">
            <a:avLst>
              <a:gd name="adj" fmla="val 12903"/>
            </a:avLst>
          </a:prstGeom>
          <a:solidFill>
            <a:srgbClr val="E8E6DC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04672" y="160020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Browser   </a:t>
            </a:r>
            <a:r>
              <a:rPr lang="en-US" sz="11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vanilla HTML / CSS / JavaScript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 rot="5400000">
            <a:off x="3877056" y="2171700"/>
            <a:ext cx="201168" cy="256032"/>
          </a:xfrm>
          <a:prstGeom prst="triangle">
            <a:avLst/>
          </a:prstGeom>
          <a:solidFill>
            <a:srgbClr val="5C574F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322576"/>
            <a:ext cx="6858000" cy="566928"/>
          </a:xfrm>
          <a:prstGeom prst="roundRect">
            <a:avLst>
              <a:gd name="adj" fmla="val 12903"/>
            </a:avLst>
          </a:prstGeom>
          <a:solidFill>
            <a:srgbClr val="F0EEE4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4672" y="2322576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Routes   </a:t>
            </a:r>
            <a:r>
              <a:rPr lang="en-US" sz="11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endpoint definitions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 rot="5400000">
            <a:off x="3877056" y="2894076"/>
            <a:ext cx="201168" cy="256032"/>
          </a:xfrm>
          <a:prstGeom prst="triangle">
            <a:avLst/>
          </a:prstGeom>
          <a:solidFill>
            <a:srgbClr val="5C574F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044952"/>
            <a:ext cx="6858000" cy="566928"/>
          </a:xfrm>
          <a:prstGeom prst="roundRect">
            <a:avLst>
              <a:gd name="adj" fmla="val 12903"/>
            </a:avLst>
          </a:prstGeom>
          <a:solidFill>
            <a:srgbClr val="E8E6DC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" y="304495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Middleware   </a:t>
            </a:r>
            <a:r>
              <a:rPr lang="en-US" sz="11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rate limiting · upload · errors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 rot="5400000">
            <a:off x="3877056" y="3616452"/>
            <a:ext cx="201168" cy="256032"/>
          </a:xfrm>
          <a:prstGeom prst="triangle">
            <a:avLst/>
          </a:prstGeom>
          <a:solidFill>
            <a:srgbClr val="5C574F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767328"/>
            <a:ext cx="6858000" cy="566928"/>
          </a:xfrm>
          <a:prstGeom prst="roundRect">
            <a:avLst>
              <a:gd name="adj" fmla="val 12903"/>
            </a:avLst>
          </a:prstGeom>
          <a:solidFill>
            <a:srgbClr val="F0EEE4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04672" y="376732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Controllers   </a:t>
            </a:r>
            <a:r>
              <a:rPr lang="en-US" sz="11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request orchestration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 rot="5400000">
            <a:off x="3877056" y="4338828"/>
            <a:ext cx="201168" cy="256032"/>
          </a:xfrm>
          <a:prstGeom prst="triangle">
            <a:avLst/>
          </a:prstGeom>
          <a:solidFill>
            <a:srgbClr val="5C574F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489704"/>
            <a:ext cx="6858000" cy="566928"/>
          </a:xfrm>
          <a:prstGeom prst="roundRect">
            <a:avLst>
              <a:gd name="adj" fmla="val 12903"/>
            </a:avLst>
          </a:prstGeom>
          <a:solidFill>
            <a:srgbClr val="E8E6DC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04672" y="4489704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Services   </a:t>
            </a:r>
            <a:r>
              <a:rPr lang="en-US" sz="11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all business logic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 rot="5400000">
            <a:off x="3877056" y="5061204"/>
            <a:ext cx="201168" cy="256032"/>
          </a:xfrm>
          <a:prstGeom prst="triangle">
            <a:avLst/>
          </a:prstGeom>
          <a:solidFill>
            <a:srgbClr val="5C574F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5212080"/>
            <a:ext cx="6858000" cy="566928"/>
          </a:xfrm>
          <a:prstGeom prst="roundRect">
            <a:avLst>
              <a:gd name="adj" fmla="val 12903"/>
            </a:avLst>
          </a:prstGeom>
          <a:solidFill>
            <a:srgbClr val="D97757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04672" y="521208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AF9F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External   </a:t>
            </a:r>
            <a:r>
              <a:rPr lang="en-US" sz="1100" dirty="0">
                <a:solidFill>
                  <a:srgbClr val="E8E6D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Cloudflare R2 · Milvus · Workers AI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22860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9A4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One-way layering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278892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Each layer calls only the one below it. Routes and controllers never touch Milvus or the AI directly — that logic lives only in the service layer.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353312" y="402336"/>
            <a:ext cx="102897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373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Document Classification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373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06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538728" cy="1783080"/>
          </a:xfrm>
          <a:prstGeom prst="roundRect">
            <a:avLst>
              <a:gd name="adj" fmla="val 4103"/>
            </a:avLst>
          </a:prstGeom>
          <a:solidFill>
            <a:srgbClr val="E8E6DC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04825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9775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BACKEND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50592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Node.js + Express 5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361688" y="1737360"/>
            <a:ext cx="3538728" cy="1783080"/>
          </a:xfrm>
          <a:prstGeom prst="roundRect">
            <a:avLst>
              <a:gd name="adj" fmla="val 4103"/>
            </a:avLst>
          </a:prstGeom>
          <a:solidFill>
            <a:srgbClr val="F0EEE4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36008" y="204825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9775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450592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HTML · CSS · Vanilla JS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174736" y="1737360"/>
            <a:ext cx="3538728" cy="1783080"/>
          </a:xfrm>
          <a:prstGeom prst="roundRect">
            <a:avLst>
              <a:gd name="adj" fmla="val 4103"/>
            </a:avLst>
          </a:prstGeom>
          <a:solidFill>
            <a:srgbClr val="E8E6DC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49056" y="204825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9775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VECTOR DATABASE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449056" y="2450592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Zilliz Cloud (Milvus)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3538728" cy="1783080"/>
          </a:xfrm>
          <a:prstGeom prst="roundRect">
            <a:avLst>
              <a:gd name="adj" fmla="val 4103"/>
            </a:avLst>
          </a:prstGeom>
          <a:solidFill>
            <a:srgbClr val="F0EEE4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410565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9775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EMBEDDINGS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507992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Cloudflare BGE · 768-dim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4361688" y="3794760"/>
            <a:ext cx="3538728" cy="1783080"/>
          </a:xfrm>
          <a:prstGeom prst="roundRect">
            <a:avLst>
              <a:gd name="adj" fmla="val 4103"/>
            </a:avLst>
          </a:prstGeom>
          <a:solidFill>
            <a:srgbClr val="E8E6DC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636008" y="410565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9775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LANGUAGE MODEL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4507992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Llama 3.1 8B · Workers AI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174736" y="3794760"/>
            <a:ext cx="3538728" cy="1783080"/>
          </a:xfrm>
          <a:prstGeom prst="roundRect">
            <a:avLst>
              <a:gd name="adj" fmla="val 4103"/>
            </a:avLst>
          </a:prstGeom>
          <a:solidFill>
            <a:srgbClr val="F0EEE4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449056" y="410565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9775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OBJECT STORAGE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449056" y="4507992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Cloudflare R2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frontend framework  ·  all AI hosted on Cloudflare Workers AI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353312" y="402336"/>
            <a:ext cx="102897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End-to-End Pipeline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373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Document Classification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373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07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160020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Upload &amp; validate — file type check, 2 MB limit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304288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2258568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Archive + extract — R2 upload and text extraction run in parallel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962656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2916936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Clean &amp; normalise — 7-stage text pipeline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621024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621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3575304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Embed — text becomes a 768-dimension vector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279392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423367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Vector search — top 8 candidate series from Milvus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937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70432" y="489204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Rerank + scope gate — reorder, then apply the 0.65 threshold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5596128"/>
            <a:ext cx="402336" cy="402336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5596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70432" y="5550408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Classify — the LLM selects the series; confidence is scored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9326880" y="288036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E8E6DC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326880" y="3063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~2.3–3.0 s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9326880" y="36393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end-to-end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353312" y="402336"/>
            <a:ext cx="102897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It Works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373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Document Classification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373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08 / 15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1691640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9A4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INGEST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236208" y="1691640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9A4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RETRIEVE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857232" y="169164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9A4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CLASSIFY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" y="2103120"/>
            <a:ext cx="1536192" cy="2148840"/>
          </a:xfrm>
          <a:prstGeom prst="roundRect">
            <a:avLst>
              <a:gd name="adj" fmla="val 4762"/>
            </a:avLst>
          </a:prstGeom>
          <a:solidFill>
            <a:srgbClr val="E8E6DC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80744" y="2304288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80744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" y="276148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Upload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438144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85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PDF · DOCX · XLSX · scan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 rot="5400000">
            <a:off x="2377440" y="3049524"/>
            <a:ext cx="201168" cy="256032"/>
          </a:xfrm>
          <a:prstGeom prst="triangle">
            <a:avLst/>
          </a:prstGeom>
          <a:solidFill>
            <a:srgbClr val="5C574F"/>
          </a:solidFill>
          <a:ln/>
        </p:spPr>
      </p:sp>
      <p:sp>
        <p:nvSpPr>
          <p:cNvPr id="16" name="Shape 14"/>
          <p:cNvSpPr/>
          <p:nvPr/>
        </p:nvSpPr>
        <p:spPr>
          <a:xfrm>
            <a:off x="2615184" y="2103120"/>
            <a:ext cx="1536192" cy="2148840"/>
          </a:xfrm>
          <a:prstGeom prst="roundRect">
            <a:avLst>
              <a:gd name="adj" fmla="val 4762"/>
            </a:avLst>
          </a:prstGeom>
          <a:solidFill>
            <a:srgbClr val="F0EEE4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91256" y="2304288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191256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660904" y="276148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Extract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679192" y="3438144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85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text, OCR fallback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 rot="5400000">
            <a:off x="4187952" y="3049524"/>
            <a:ext cx="201168" cy="256032"/>
          </a:xfrm>
          <a:prstGeom prst="triangle">
            <a:avLst/>
          </a:prstGeom>
          <a:solidFill>
            <a:srgbClr val="5C574F"/>
          </a:solidFill>
          <a:ln/>
        </p:spPr>
      </p:sp>
      <p:sp>
        <p:nvSpPr>
          <p:cNvPr id="22" name="Shape 20"/>
          <p:cNvSpPr/>
          <p:nvPr/>
        </p:nvSpPr>
        <p:spPr>
          <a:xfrm>
            <a:off x="4425696" y="2103120"/>
            <a:ext cx="1536192" cy="2148840"/>
          </a:xfrm>
          <a:prstGeom prst="roundRect">
            <a:avLst>
              <a:gd name="adj" fmla="val 4762"/>
            </a:avLst>
          </a:prstGeom>
          <a:solidFill>
            <a:srgbClr val="E8E6DC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01768" y="2304288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00176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471416" y="276148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489704" y="3438144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85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normalise · 7 stages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 rot="5400000">
            <a:off x="5998464" y="3049524"/>
            <a:ext cx="201168" cy="256032"/>
          </a:xfrm>
          <a:prstGeom prst="triangle">
            <a:avLst/>
          </a:prstGeom>
          <a:solidFill>
            <a:srgbClr val="5C574F"/>
          </a:solidFill>
          <a:ln/>
        </p:spPr>
      </p:sp>
      <p:sp>
        <p:nvSpPr>
          <p:cNvPr id="28" name="Shape 26"/>
          <p:cNvSpPr/>
          <p:nvPr/>
        </p:nvSpPr>
        <p:spPr>
          <a:xfrm>
            <a:off x="6236208" y="2103120"/>
            <a:ext cx="1536192" cy="2148840"/>
          </a:xfrm>
          <a:prstGeom prst="roundRect">
            <a:avLst>
              <a:gd name="adj" fmla="val 4762"/>
            </a:avLst>
          </a:prstGeom>
          <a:solidFill>
            <a:srgbClr val="F0EEE4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12280" y="2304288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1228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281928" y="276148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Embed &amp;</a:t>
            </a:r>
            <a:endParaRPr lang="en-US" sz="11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300216" y="3438144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85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768-dim → Milvus top 8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 rot="5400000">
            <a:off x="7808976" y="3049524"/>
            <a:ext cx="201168" cy="256032"/>
          </a:xfrm>
          <a:prstGeom prst="triangle">
            <a:avLst/>
          </a:prstGeom>
          <a:solidFill>
            <a:srgbClr val="5C574F"/>
          </a:solidFill>
          <a:ln/>
        </p:spPr>
      </p:sp>
      <p:sp>
        <p:nvSpPr>
          <p:cNvPr id="34" name="Shape 32"/>
          <p:cNvSpPr/>
          <p:nvPr/>
        </p:nvSpPr>
        <p:spPr>
          <a:xfrm>
            <a:off x="8046720" y="2103120"/>
            <a:ext cx="1536192" cy="2148840"/>
          </a:xfrm>
          <a:prstGeom prst="roundRect">
            <a:avLst>
              <a:gd name="adj" fmla="val 4762"/>
            </a:avLst>
          </a:prstGeom>
          <a:solidFill>
            <a:srgbClr val="E8E6DC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622792" y="2304288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622792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092440" y="276148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Rerank &amp;</a:t>
            </a:r>
            <a:endParaRPr lang="en-US" sz="11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Gate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8110728" y="3438144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85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reorder · 0.65 cutoff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 rot="5400000">
            <a:off x="9619488" y="3049524"/>
            <a:ext cx="201168" cy="256032"/>
          </a:xfrm>
          <a:prstGeom prst="triangle">
            <a:avLst/>
          </a:prstGeom>
          <a:solidFill>
            <a:srgbClr val="5C574F"/>
          </a:solidFill>
          <a:ln/>
        </p:spPr>
      </p:sp>
      <p:sp>
        <p:nvSpPr>
          <p:cNvPr id="40" name="Shape 38"/>
          <p:cNvSpPr/>
          <p:nvPr/>
        </p:nvSpPr>
        <p:spPr>
          <a:xfrm>
            <a:off x="9857232" y="2103120"/>
            <a:ext cx="1536192" cy="2148840"/>
          </a:xfrm>
          <a:prstGeom prst="roundRect">
            <a:avLst>
              <a:gd name="adj" fmla="val 4762"/>
            </a:avLst>
          </a:prstGeom>
          <a:solidFill>
            <a:srgbClr val="F0EEE4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433304" y="2304288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0433304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902952" y="276148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Classify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9921240" y="3438144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85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Llama 3.1 → best series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 rot="10800000">
            <a:off x="5971032" y="4379976"/>
            <a:ext cx="256032" cy="237744"/>
          </a:xfrm>
          <a:prstGeom prst="triangle">
            <a:avLst/>
          </a:prstGeom>
          <a:solidFill>
            <a:srgbClr val="5C574F"/>
          </a:solidFill>
          <a:ln/>
        </p:spPr>
      </p:sp>
      <p:sp>
        <p:nvSpPr>
          <p:cNvPr id="46" name="Shape 44"/>
          <p:cNvSpPr/>
          <p:nvPr/>
        </p:nvSpPr>
        <p:spPr>
          <a:xfrm>
            <a:off x="804672" y="4709160"/>
            <a:ext cx="10588752" cy="960120"/>
          </a:xfrm>
          <a:prstGeom prst="roundRect">
            <a:avLst>
              <a:gd name="adj" fmla="val 7619"/>
            </a:avLst>
          </a:prstGeom>
          <a:solidFill>
            <a:srgbClr val="D97757"/>
          </a:solidFill>
          <a:ln/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1170432" y="4709160"/>
            <a:ext cx="9857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      </a:t>
            </a:r>
            <a:r>
              <a:rPr lang="en-US" sz="1150" dirty="0">
                <a:solidFill>
                  <a:srgbClr val="FAF9F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record series   ·   retention period   ·   disposition method   ·   AI reasoning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353312" y="402336"/>
            <a:ext cx="102897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 Extraction &amp; OCR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373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Document Classification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373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09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E8E6DC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48640" y="19019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A4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pdf-parse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395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primary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rot="5400000">
            <a:off x="3803904" y="2203704"/>
            <a:ext cx="201168" cy="256032"/>
          </a:xfrm>
          <a:prstGeom prst="triangle">
            <a:avLst/>
          </a:prstGeom>
          <a:solidFill>
            <a:srgbClr val="5C574F"/>
          </a:solidFill>
          <a:ln/>
        </p:spPr>
      </p:sp>
      <p:sp>
        <p:nvSpPr>
          <p:cNvPr id="11" name="Shape 9"/>
          <p:cNvSpPr/>
          <p:nvPr/>
        </p:nvSpPr>
        <p:spPr>
          <a:xfrm>
            <a:off x="4160520" y="164592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E8E6DC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160520" y="19019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A4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PDF.js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160520" y="2395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malformed PDFs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 rot="5400000">
            <a:off x="7415784" y="2203704"/>
            <a:ext cx="201168" cy="256032"/>
          </a:xfrm>
          <a:prstGeom prst="triangle">
            <a:avLst/>
          </a:prstGeom>
          <a:solidFill>
            <a:srgbClr val="5C574F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0" y="164592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F0EEE4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0" y="19019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A4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2395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scanned pages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Non-PDF formats:   DOCX via Mammoth      XLSX via SheetJS (each sheet → CSV)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E8E6DC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420624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9A4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Selective OCR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626864"/>
            <a:ext cx="10378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Pages that already contain text are skipped. Only image-only pages go to a pool of 3 persistent Tesseract workers, rendered at 2× scale for accuracy.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353312" y="402336"/>
            <a:ext cx="102897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Semantic Vector Search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373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Document Classification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373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 / 15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4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Meaning, not keywords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Each document — and every record series — is turned into 768 numbers. Texts with similar meaning land close together in that space; closeness is measured by cosine similarity.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Milvus returns the 8 nearest series as candidates.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75120" y="1554480"/>
            <a:ext cx="5029200" cy="4297680"/>
          </a:xfrm>
          <a:prstGeom prst="roundRect">
            <a:avLst>
              <a:gd name="adj" fmla="val 1702"/>
            </a:avLst>
          </a:prstGeom>
          <a:solidFill>
            <a:srgbClr val="FAF9F5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 flipV="1">
            <a:off x="7452360" y="2331720"/>
            <a:ext cx="3246120" cy="1371600"/>
          </a:xfrm>
          <a:prstGeom prst="line">
            <a:avLst/>
          </a:prstGeom>
          <a:noFill/>
          <a:ln w="15875">
            <a:solidFill>
              <a:srgbClr val="D8D5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97896" y="2231136"/>
            <a:ext cx="201168" cy="201168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738360" y="21762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A4A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0.88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52360" y="3703320"/>
            <a:ext cx="3520440" cy="91440"/>
          </a:xfrm>
          <a:prstGeom prst="line">
            <a:avLst/>
          </a:prstGeom>
          <a:noFill/>
          <a:ln w="15875">
            <a:solidFill>
              <a:srgbClr val="D8D5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72216" y="3694176"/>
            <a:ext cx="201168" cy="201168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12680" y="36393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A4A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0.79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52360" y="3703320"/>
            <a:ext cx="2926080" cy="1371600"/>
          </a:xfrm>
          <a:prstGeom prst="line">
            <a:avLst/>
          </a:prstGeom>
          <a:noFill/>
          <a:ln w="15875">
            <a:solidFill>
              <a:srgbClr val="D8D5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7856" y="4974336"/>
            <a:ext cx="201168" cy="201168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0" y="49194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A4A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0.71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96912" y="3547872"/>
            <a:ext cx="310896" cy="310896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39410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Document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54223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nearest record series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353312" y="402336"/>
            <a:ext cx="102897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Reranking Look-Alike Series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373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Document Classification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373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11 / 15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813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series can share 90% of their wording but carry opposite retention rules — a resolved case versus an unresolved one.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8E6DC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5786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A4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 ·  Keyword boost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62656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Does the document actually contain each series’ distinguishing terms?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9632" y="23774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0EEE4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73952" y="25786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A4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 ·  Cluster amplification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2962656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Down-weight generic words; amplify the term that separates a confusable group.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4572000" cy="1737360"/>
          </a:xfrm>
          <a:prstGeom prst="roundRect">
            <a:avLst>
              <a:gd name="adj" fmla="val 4211"/>
            </a:avLst>
          </a:prstGeom>
          <a:solidFill>
            <a:srgbClr val="FAF9F5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42976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C5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RAW RANKING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68172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  Series A   0.842
</a:t>
            </a:r>
            <a:r>
              <a:rPr lang="en-US" sz="1250" dirty="0">
                <a:solidFill>
                  <a:srgbClr val="5C5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  Series B   0.838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 rot="5400000">
            <a:off x="5440680" y="4855464"/>
            <a:ext cx="201168" cy="256032"/>
          </a:xfrm>
          <a:prstGeom prst="triangle">
            <a:avLst/>
          </a:prstGeom>
          <a:solidFill>
            <a:srgbClr val="5C574F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0" y="4114800"/>
            <a:ext cx="4572000" cy="1737360"/>
          </a:xfrm>
          <a:prstGeom prst="roundRect">
            <a:avLst>
              <a:gd name="adj" fmla="val 4211"/>
            </a:avLst>
          </a:prstGeom>
          <a:solidFill>
            <a:srgbClr val="E8E6DC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217920" y="42976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A4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AFTER RERANKING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468172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9A4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  Series B   0.861
</a:t>
            </a:r>
            <a:r>
              <a:rPr lang="en-US" sz="1250" dirty="0">
                <a:solidFill>
                  <a:srgbClr val="5C5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  Series A   0.844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353312" y="402336"/>
            <a:ext cx="102897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RAG Classification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373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Document Classification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373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12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E8E6DC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19933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4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23744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 3 candidates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+ scope notes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+ document text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5400000">
            <a:off x="4105656" y="2660904"/>
            <a:ext cx="201168" cy="256032"/>
          </a:xfrm>
          <a:prstGeom prst="triangle">
            <a:avLst/>
          </a:prstGeom>
          <a:solidFill>
            <a:srgbClr val="5C574F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173736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D97757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63440" y="19933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Llama 3.1 8B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523744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6D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temperature 0.1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6D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deterministic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5400000">
            <a:off x="8037576" y="2660904"/>
            <a:ext cx="201168" cy="256032"/>
          </a:xfrm>
          <a:prstGeom prst="triangle">
            <a:avLst/>
          </a:prstGeom>
          <a:solidFill>
            <a:srgbClr val="5C574F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173736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E8E6DC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595360" y="19933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4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Output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2523744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selected series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+ 1–2 sentence reason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+ certainty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F0EEE4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68680" y="4480560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9A4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Guardrails   </a:t>
            </a:r>
            <a:r>
              <a:rPr lang="en-US" sz="11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answer must be one of the supplied series; if the model strays, the system falls back to the top candidate. Displayed metadata always comes from the database — never the model.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353312" y="402336"/>
            <a:ext cx="102897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Built-in Safeguards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373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Document Classification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373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13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E8E6DC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48640" y="22860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0.65</a:t>
            </a:r>
            <a:endParaRPr lang="en-US" sz="5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204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Scope threshold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02336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15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If the closest series scores below this, the document is flagged out-of-scope and the LLM is skipped — the system will not guess.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5352" y="182880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F0EEE4"/>
          </a:solidFill>
          <a:ln w="9525">
            <a:solidFill>
              <a:srgbClr val="D8D5C8"/>
            </a:solidFill>
            <a:prstDash val="solid"/>
          </a:ln>
          <a:effectLst>
            <a:outerShdw blurRad="114300" dist="25400" dir="5400000" algn="bl" rotWithShape="0">
              <a:srgbClr val="1C2421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45352" y="22860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0.95</a:t>
            </a:r>
            <a:endParaRPr lang="en-US" sz="5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35204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Confidence ceiling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702552" y="402336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150" dirty="0">
                <a:solidFill>
                  <a:srgbClr val="5C574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Final confidence is capped here and never drops below the raw similarity — there is always headroom for human sign-off.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E397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353312" y="402336"/>
            <a:ext cx="102897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It Stands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373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3977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Document Classification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373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3977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14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615184" cy="2514600"/>
          </a:xfrm>
          <a:prstGeom prst="roundRect">
            <a:avLst>
              <a:gd name="adj" fmla="val 2909"/>
            </a:avLst>
          </a:prstGeom>
          <a:solidFill>
            <a:srgbClr val="1F1E1C"/>
          </a:solidFill>
          <a:ln w="12700">
            <a:solidFill>
              <a:srgbClr val="3C3A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87168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397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119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493008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6D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record series across GS-17, GS-02 and GS-14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64992" y="2103120"/>
            <a:ext cx="2615184" cy="2514600"/>
          </a:xfrm>
          <a:prstGeom prst="roundRect">
            <a:avLst>
              <a:gd name="adj" fmla="val 2909"/>
            </a:avLst>
          </a:prstGeom>
          <a:solidFill>
            <a:srgbClr val="1F1E1C"/>
          </a:solidFill>
          <a:ln w="12700">
            <a:solidFill>
              <a:srgbClr val="3C3A3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64992" y="2487168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397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~2.6 s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493008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6D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typical end-to-end classification (from ~5 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81344" y="2103120"/>
            <a:ext cx="2615184" cy="2514600"/>
          </a:xfrm>
          <a:prstGeom prst="roundRect">
            <a:avLst>
              <a:gd name="adj" fmla="val 2909"/>
            </a:avLst>
          </a:prstGeom>
          <a:solidFill>
            <a:srgbClr val="1F1E1C"/>
          </a:solidFill>
          <a:ln w="12700">
            <a:solidFill>
              <a:srgbClr val="3C3A3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81344" y="2487168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397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382512" y="3493008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6D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input formats — PDF, DOCX, XLSX, scanned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97696" y="2103120"/>
            <a:ext cx="2615184" cy="2514600"/>
          </a:xfrm>
          <a:prstGeom prst="roundRect">
            <a:avLst>
              <a:gd name="adj" fmla="val 2909"/>
            </a:avLst>
          </a:prstGeom>
          <a:solidFill>
            <a:srgbClr val="1F1E1C"/>
          </a:solidFill>
          <a:ln w="12700">
            <a:solidFill>
              <a:srgbClr val="3C3A3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97696" y="2487168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397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9198864" y="3493008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6D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redundant network calls removed by parallelism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8E6D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Benchmark and regression test suites  ·  live web interface with light / dark themes.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3977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FUTURE WORK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AF9F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Batch upload with a background job queue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AF9F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More LVA schedules — the engine is already schedule-agnostic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17397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257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977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GitHub : </a:t>
            </a:r>
            <a:r>
              <a:rPr lang="en-US" sz="1600" dirty="0">
                <a:solidFill>
                  <a:srgbClr val="E39774"/>
                </a:solidFill>
                <a:latin typeface="Lora" pitchFamily="34" charset="0"/>
                <a:ea typeface="Lora" pitchFamily="34" charset="-122"/>
                <a:cs typeface="Lora" pitchFamily="34" charset="-120"/>
                <a:hlinkClick r:id="rId3"/>
              </a:rPr>
              <a:t>https://github.com/khan-shayan9/LVA-DOCUMENT-CLASSIFIER</a:t>
            </a:r>
            <a:br>
              <a:rPr lang="en-US" sz="1600" dirty="0">
                <a:solidFill>
                  <a:srgbClr val="E3977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</a:br>
            <a:r>
              <a:rPr lang="en-US" sz="1600" dirty="0">
                <a:solidFill>
                  <a:srgbClr val="E3977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Deployed Link : </a:t>
            </a:r>
            <a:r>
              <a:rPr lang="en-US" sz="1600" dirty="0">
                <a:solidFill>
                  <a:srgbClr val="E39774"/>
                </a:solidFill>
                <a:latin typeface="Lora" pitchFamily="34" charset="0"/>
                <a:ea typeface="Lora" pitchFamily="34" charset="-122"/>
                <a:cs typeface="Lora" pitchFamily="34" charset="-120"/>
                <a:hlinkClick r:id="rId4"/>
              </a:rPr>
              <a:t>https://lva-document-classifier.onrender.com/</a:t>
            </a:r>
            <a:r>
              <a:rPr lang="en-US" sz="1600" dirty="0">
                <a:solidFill>
                  <a:srgbClr val="E3977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269603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6D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 Shayan Khan  ·  SPS Summer Internship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549640" y="1463040"/>
            <a:ext cx="2743200" cy="3108960"/>
          </a:xfrm>
          <a:prstGeom prst="roundRect">
            <a:avLst>
              <a:gd name="adj" fmla="val 3333"/>
            </a:avLst>
          </a:prstGeom>
          <a:solidFill>
            <a:srgbClr val="E39774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915400" y="2057400"/>
            <a:ext cx="2743200" cy="3108960"/>
          </a:xfrm>
          <a:prstGeom prst="roundRect">
            <a:avLst>
              <a:gd name="adj" fmla="val 3333"/>
            </a:avLst>
          </a:prstGeom>
          <a:solidFill>
            <a:srgbClr val="E39774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281160" y="2651760"/>
            <a:ext cx="2743200" cy="3108960"/>
          </a:xfrm>
          <a:prstGeom prst="roundRect">
            <a:avLst>
              <a:gd name="adj" fmla="val 3333"/>
            </a:avLst>
          </a:prstGeom>
          <a:solidFill>
            <a:srgbClr val="E39774">
              <a:alpha val="56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1022</Words>
  <Application>Microsoft Office PowerPoint</Application>
  <PresentationFormat>Widescreen</PresentationFormat>
  <Paragraphs>228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Lora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Document Classification System</dc:title>
  <dc:subject>PptxGenJS Presentation</dc:subject>
  <dc:creator>M Shayan Khan</dc:creator>
  <cp:lastModifiedBy>Khan G</cp:lastModifiedBy>
  <cp:revision>7</cp:revision>
  <dcterms:created xsi:type="dcterms:W3CDTF">2026-09-10T12:50:56Z</dcterms:created>
  <dcterms:modified xsi:type="dcterms:W3CDTF">2026-09-17T12:08:05Z</dcterms:modified>
</cp:coreProperties>
</file>